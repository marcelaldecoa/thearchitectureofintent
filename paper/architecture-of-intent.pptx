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137160" cy="2103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THE ARCHITECTURE OF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 i="1">
                <a:solidFill>
                  <a:srgbClr val="F8FAFC"/>
                </a:solidFill>
                <a:latin typeface="Calibri"/>
              </a:rPr>
              <a:t>A Framework for Designing Delegated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Marcel Aldecoa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Position-and-framework paper  ·  ~15,000 words / 34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1">
                <a:solidFill>
                  <a:srgbClr val="F8FAFC"/>
                </a:solidFill>
                <a:latin typeface="Calibri"/>
              </a:rPr>
              <a:t>Companion teaching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1. The problem</a:t>
            </a:r>
            <a:r>
              <a:rPr sz="1800" b="0">
                <a:solidFill>
                  <a:srgbClr val="475569"/>
                </a:solidFill>
                <a:latin typeface="Calibri"/>
              </a:rPr>
              <a:t>  Why intent is now a design surface, and the judgment gap that opened in 2024–2026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2. The framework</a:t>
            </a:r>
            <a:r>
              <a:rPr sz="1800" b="0">
                <a:solidFill>
                  <a:srgbClr val="475569"/>
                </a:solidFill>
                <a:latin typeface="Calibri"/>
              </a:rPr>
              <a:t>  Five archetypes · four calibration dimensions · seven failure categories · SDD as protocol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3. Application</a:t>
            </a:r>
            <a:r>
              <a:rPr sz="1800" b="0">
                <a:solidFill>
                  <a:srgbClr val="475569"/>
                </a:solidFill>
                <a:latin typeface="Calibri"/>
              </a:rPr>
              <a:t>  Coding agents, computer-use agents, and composition with Microsoft DevSquad Copilot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4. Honest contribution accounting</a:t>
            </a:r>
            <a:r>
              <a:rPr sz="1800" b="0">
                <a:solidFill>
                  <a:srgbClr val="475569"/>
                </a:solidFill>
                <a:latin typeface="Calibri"/>
              </a:rPr>
              <a:t>  What is novel, what is borrowed, and what the framework does NOT claim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5. Limitations &amp; take-homes</a:t>
            </a:r>
            <a:r>
              <a:rPr sz="1800" b="0">
                <a:solidFill>
                  <a:srgbClr val="475569"/>
                </a:solidFill>
                <a:latin typeface="Calibri"/>
              </a:rPr>
              <a:t>  Where the framework breaks, what to read next, what to try Monday morning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Delegation is a structural problem, not a model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Calibri"/>
              </a:rPr>
              <a:t>Humans must express intent precisely enough that a non-human executor can act on it without supervisory rescue.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Software</a:t>
            </a:r>
            <a:r>
              <a:rPr sz="1800" b="0">
                <a:solidFill>
                  <a:srgbClr val="475569"/>
                </a:solidFill>
                <a:latin typeface="Calibri"/>
              </a:rPr>
              <a:t>  spec → compiler → binary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Organizations</a:t>
            </a:r>
            <a:r>
              <a:rPr sz="1800" b="0">
                <a:solidFill>
                  <a:srgbClr val="475569"/>
                </a:solidFill>
                <a:latin typeface="Calibri"/>
              </a:rPr>
              <a:t>  policy → manager → individual contributor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Automated pipelines</a:t>
            </a:r>
            <a:r>
              <a:rPr sz="1800" b="0">
                <a:solidFill>
                  <a:srgbClr val="475569"/>
                </a:solidFill>
                <a:latin typeface="Calibri"/>
              </a:rPr>
              <a:t>  config → scheduler → worker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3A8A"/>
                </a:solidFill>
                <a:latin typeface="Calibri"/>
              </a:rPr>
              <a:t>■  </a:t>
            </a:r>
            <a:r>
              <a:rPr sz="2000" b="1">
                <a:solidFill>
                  <a:srgbClr val="0F172A"/>
                </a:solidFill>
                <a:latin typeface="Calibri"/>
              </a:rPr>
              <a:t>AI agents</a:t>
            </a:r>
            <a:r>
              <a:rPr sz="1800" b="0">
                <a:solidFill>
                  <a:srgbClr val="475569"/>
                </a:solidFill>
                <a:latin typeface="Calibri"/>
              </a:rPr>
              <a:t>  prompt + tools → model → action  —  the most acute current instance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1">
                <a:solidFill>
                  <a:srgbClr val="0F172A"/>
                </a:solidFill>
                <a:latin typeface="Calibri"/>
              </a:rPr>
              <a:t>Claim: intent is a primary design artifact distinct from implementation. AI agents are</a:t>
            </a:r>
          </a:p>
          <a:p>
            <a:pPr algn="l"/>
            <a:r>
              <a:rPr sz="1600" b="0" i="1">
                <a:solidFill>
                  <a:srgbClr val="0F172A"/>
                </a:solidFill>
                <a:latin typeface="Calibri"/>
              </a:rPr>
              <a:t>the class where this claim becomes load-bearing — because the executor is probabilistic.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The judgment gap (2024–2026)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1">
                <a:solidFill>
                  <a:srgbClr val="475569"/>
                </a:solidFill>
                <a:latin typeface="Calibri"/>
              </a:rPr>
              <a:t>An execution-first bias in current agent harnesses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3949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E3A8A"/>
                </a:solidFill>
                <a:latin typeface="Calibri"/>
              </a:rPr>
              <a:t>Senior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Surfaces ambiguity</a:t>
            </a:r>
            <a:r>
              <a:rPr sz="1300" b="0">
                <a:solidFill>
                  <a:srgbClr val="475569"/>
                </a:solidFill>
                <a:latin typeface="Calibri"/>
              </a:rPr>
              <a:t>  before acting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Asks "is this what you mean?"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Refuses ill-posed work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Treats clarification</a:t>
            </a:r>
            <a:r>
              <a:rPr sz="1300" b="0">
                <a:solidFill>
                  <a:srgbClr val="475569"/>
                </a:solidFill>
                <a:latin typeface="Calibri"/>
              </a:rPr>
              <a:t>  as load-bearing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94560"/>
            <a:ext cx="53949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Calibri"/>
              </a:rPr>
              <a:t>LLM agent (even with AskUserQuestion)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Executes first</a:t>
            </a:r>
            <a:r>
              <a:rPr sz="1300" b="0">
                <a:solidFill>
                  <a:srgbClr val="475569"/>
                </a:solidFill>
                <a:latin typeface="Calibri"/>
              </a:rPr>
              <a:t>  even on under-specified work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Pauses rarely</a:t>
            </a:r>
            <a:r>
              <a:rPr sz="1300" b="0">
                <a:solidFill>
                  <a:srgbClr val="475569"/>
                </a:solidFill>
                <a:latin typeface="Calibri"/>
              </a:rPr>
              <a:t>  even when tools are available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Reaches for action</a:t>
            </a:r>
            <a:r>
              <a:rPr sz="1300" b="0">
                <a:solidFill>
                  <a:srgbClr val="475569"/>
                </a:solidFill>
                <a:latin typeface="Calibri"/>
              </a:rPr>
              <a:t>  before reaching for clarification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Tool exists; judgment</a:t>
            </a:r>
            <a:r>
              <a:rPr sz="1300" b="0">
                <a:solidFill>
                  <a:srgbClr val="475569"/>
                </a:solidFill>
                <a:latin typeface="Calibri"/>
              </a:rPr>
              <a:t>  to use it is not yet calibrated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Honest contribution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Calibri"/>
              </a:rPr>
              <a:t>Reviewers reward narrow novelty claims. Overclaiming gets punished.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3949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E3A8A"/>
                </a:solidFill>
                <a:latin typeface="Calibri"/>
              </a:rPr>
              <a:t>What IS novel (3 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Cat 7 (Perceptual Failure)</a:t>
            </a:r>
            <a:r>
              <a:rPr sz="1300" b="0">
                <a:solidFill>
                  <a:srgbClr val="475569"/>
                </a:solidFill>
                <a:latin typeface="Calibri"/>
              </a:rPr>
              <a:t>  for perceiving-then-acting agents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Orthogonality of agency × autonomy</a:t>
            </a:r>
            <a:r>
              <a:rPr sz="1300" b="0">
                <a:solidFill>
                  <a:srgbClr val="475569"/>
                </a:solidFill>
                <a:latin typeface="Calibri"/>
              </a:rPr>
              <a:t>  extending Shavit &amp; Agarwal 2023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Fix-locus framing</a:t>
            </a:r>
            <a:r>
              <a:rPr sz="1300" b="0">
                <a:solidFill>
                  <a:srgbClr val="475569"/>
                </a:solidFill>
                <a:latin typeface="Calibri"/>
              </a:rPr>
              <a:t>  of the failure taxonomy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94560"/>
            <a:ext cx="53949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475569"/>
                </a:solidFill>
                <a:latin typeface="Calibri"/>
              </a:rPr>
              <a:t>What is NOT claimed as novel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SDD as discipline</a:t>
            </a:r>
            <a:r>
              <a:rPr sz="1200" b="0">
                <a:solidFill>
                  <a:srgbClr val="475569"/>
                </a:solidFill>
                <a:latin typeface="Calibri"/>
              </a:rPr>
              <a:t>  lineage: spec-kit, DevSquad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Archetypes as concept</a:t>
            </a:r>
            <a:r>
              <a:rPr sz="1200" b="0">
                <a:solidFill>
                  <a:srgbClr val="475569"/>
                </a:solidFill>
                <a:latin typeface="Calibri"/>
              </a:rPr>
              <a:t>  lineage: Anthropic Building Effective Agents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The four dimensions individually</a:t>
            </a:r>
            <a:r>
              <a:rPr sz="1200" b="0">
                <a:solidFill>
                  <a:srgbClr val="475569"/>
                </a:solidFill>
                <a:latin typeface="Calibri"/>
              </a:rPr>
              <a:t>  lineage: SAE J3016, Shavit &amp; Agarwal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Cat 1–6</a:t>
            </a:r>
            <a:r>
              <a:rPr sz="1200" b="0">
                <a:solidFill>
                  <a:srgbClr val="475569"/>
                </a:solidFill>
                <a:latin typeface="Calibri"/>
              </a:rPr>
              <a:t>  synthesis from common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  <a:latin typeface="Calibri"/>
              </a:rPr>
              <a:t>Four load-bearing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The synthesis is the larger contribution. The four bind into a framework you can apply in design, in spec review, and in post-incident diagnosis.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74320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74320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Archetypes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23774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Five canonical delegation shapes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Advisor · Executor · Guardian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Synthesizer · Orchestrator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2" y="2194560"/>
            <a:ext cx="274320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0712" y="2194560"/>
            <a:ext cx="274320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24028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Calibration dimensions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880360"/>
            <a:ext cx="23774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Four orthogonal dials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Agency · Autonomy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Responsibility · Reversibility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2194560"/>
            <a:ext cx="274320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2194560"/>
            <a:ext cx="274320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3" y="224028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Failure taxonomy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3" y="2880360"/>
            <a:ext cx="23774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Seven categories by fix locus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Cat 1 (Spec) → Cat 6 (Model)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Cat 7 (Perceptual) — NOVEL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34856" y="2194560"/>
            <a:ext cx="274320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34856" y="2194560"/>
            <a:ext cx="274320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224028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Spec-Driven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880360"/>
            <a:ext cx="23774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The executable protocol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that binds the above into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 spec the agent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2.1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  <a:latin typeface="Calibri"/>
              </a:rPr>
              <a:t>Pre-commit a system to one shape before design begins. Composition is permitted.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Archetype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19456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Primary 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97480"/>
            <a:ext cx="10972800" cy="7132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246888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Calibri"/>
              </a:rPr>
              <a:t>Advisor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697480"/>
            <a:ext cx="41148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Surfaces options; the human 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697480"/>
            <a:ext cx="45720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Code-review suggester, search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10712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10712"/>
            <a:ext cx="246888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Calibri"/>
              </a:rPr>
              <a:t>Executor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10712"/>
            <a:ext cx="41148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Acts within a defined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410712"/>
            <a:ext cx="45720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CI/CD pipeline, deploy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23944"/>
            <a:ext cx="10972800" cy="7132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23944"/>
            <a:ext cx="246888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Calibri"/>
              </a:rPr>
              <a:t>Guardian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23944"/>
            <a:ext cx="41148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Vetoes; protects a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123944"/>
            <a:ext cx="45720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Compliance gate, safety filter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37176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37176"/>
            <a:ext cx="246888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Calibri"/>
              </a:rPr>
              <a:t>Synthesizer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837176"/>
            <a:ext cx="41148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Combines inputs into a new whole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837176"/>
            <a:ext cx="45720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Research summarizer, report generator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0408"/>
            <a:ext cx="10972800" cy="7132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50408"/>
            <a:ext cx="246888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Calibri"/>
              </a:rPr>
              <a:t>Orchestrator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550408"/>
            <a:ext cx="41148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Coordinates other agents/services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550408"/>
            <a:ext cx="45720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Multi-agent supervisor, planner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2.1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The archetype selection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  <a:latin typeface="Calibri"/>
              </a:rPr>
              <a:t>Apply questions in order. Stop at the first match. Risk override applies.</a:t>
            </a:r>
          </a:p>
        </p:txBody>
      </p:sp>
      <p:pic>
        <p:nvPicPr>
          <p:cNvPr id="6" name="Picture 5" descr="archetype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828800"/>
            <a:ext cx="4156364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475569"/>
                </a:solidFill>
                <a:latin typeface="Calibri"/>
              </a:rPr>
              <a:t>Figure 1 (paper). Composition is permitted: a deployment may host multiple archetypes.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2.2 CALIBRATION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Calibri"/>
              </a:rPr>
              <a:t>Four orthogonal dials, set deliberately in the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Most teams collapse these into "how autonomous is the agent?" — that intuition hides the calibration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Agency  —  the discretion dimension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How much judgment when instructions don't fully cover the situation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194560"/>
            <a:ext cx="548640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194560"/>
            <a:ext cx="54864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Autonomy  —  the operation dimension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88920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How much of the work runs without human intervention at each step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97679"/>
            <a:ext cx="548640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97679"/>
            <a:ext cx="54864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79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Responsibility  —  the accountability dimension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39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How accountability is distributed across the humans around the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297679"/>
            <a:ext cx="548640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297679"/>
            <a:ext cx="5486400" cy="457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97679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Reversibility  —  the consequence dimension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92039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How easy or hard it is to undo what the agent did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2.2 CALIBRATION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Calibri"/>
              </a:rPr>
              <a:t>Agency × Autonomy: orthogonal, not collinear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  <a:latin typeface="Calibri"/>
              </a:rPr>
              <a:t>Treating agency and autonomy as a single "automation level" (e.g., SAE J3016) collapses this design space onto a diagonal. Real systems sit in all four quadrants.</a:t>
            </a:r>
          </a:p>
        </p:txBody>
      </p:sp>
      <p:pic>
        <p:nvPicPr>
          <p:cNvPr id="6" name="Picture 5" descr="four-dimensions-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2194560"/>
            <a:ext cx="493529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475569"/>
                </a:solidFill>
                <a:latin typeface="Calibri"/>
              </a:rPr>
              <a:t>Figure 2 (paper). Responsibility and reversibility are similarly orthogonal.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2.3 FAILURE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Seven categories, organized by fix locus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The diagnostic test: "If a competent agent had executed this spec as written, would the outcome have been correct?"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03120"/>
            <a:ext cx="73152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10312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10312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Failure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6832" y="2103120"/>
            <a:ext cx="49377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Fix locus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10972800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514600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514600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514600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Spec was incomplete, ambiguous, or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2514600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Update the spec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81528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81528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081528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Capability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9232" y="3081528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Agent lacked or misused 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3081528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Add or fix the tool / manifest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48456"/>
            <a:ext cx="10972800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648456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648456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Scope creep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3648456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Agent did adjacent work it wasn't authorized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2" y="3648456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Tighten NOT-authorized clauses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15383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4215383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4215383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Oversight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9232" y="4215383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Error escaped the review 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4215383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Redesign the oversight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782312"/>
            <a:ext cx="10972800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4782312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" y="4782312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Compounding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99232" y="4782312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Early error cascaded through later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4782312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Checkpoint at the handoff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49240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5349240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Cat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5349240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Model-level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9232" y="5349240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Model failed despite a correct spec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56832" y="5349240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Narrow scope, switch model, or accept residual risk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916168"/>
            <a:ext cx="10972800" cy="566928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5916168"/>
            <a:ext cx="7315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Cat 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53312" y="5916168"/>
            <a:ext cx="15544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Perceptual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99232" y="5916168"/>
            <a:ext cx="3657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Perception diverged from environment state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56832" y="5916168"/>
            <a:ext cx="49377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Structural controls + verification step  (NOVEL)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2.3 FAILURE TAXONOMY  ·  THE NOVEL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F59E0B"/>
                </a:solidFill>
                <a:latin typeface="Calibri"/>
              </a:rPr>
              <a:t>Cat 7 — Perceptual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  <a:latin typeface="Calibri"/>
              </a:rPr>
              <a:t>The system's perception of the environment diverged from the actual state, and the system acted on the wrong perception.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Four sub-categories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54864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200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Misidentification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606040"/>
            <a:ext cx="201168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1">
                <a:solidFill>
                  <a:srgbClr val="F59E0B"/>
                </a:solidFill>
                <a:latin typeface="Calibri"/>
              </a:rPr>
              <a:t>Confirmation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54864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3200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Missed element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383280"/>
            <a:ext cx="201168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1">
                <a:solidFill>
                  <a:srgbClr val="F59E0B"/>
                </a:solidFill>
                <a:latin typeface="Calibri"/>
              </a:rPr>
              <a:t>Screenshot-then-verify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54864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3200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Hallucinated element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160520"/>
            <a:ext cx="201168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1">
                <a:solidFill>
                  <a:srgbClr val="F59E0B"/>
                </a:solidFill>
                <a:latin typeface="Calibri"/>
              </a:rPr>
              <a:t>Element-allowlist + DOM grounding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37760"/>
            <a:ext cx="54864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37760"/>
            <a:ext cx="3200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State miscount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937760"/>
            <a:ext cx="201168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1">
                <a:solidFill>
                  <a:srgbClr val="F59E0B"/>
                </a:solidFill>
                <a:latin typeface="Calibri"/>
              </a:rPr>
              <a:t>Re-verify at action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Why a separate category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Prior taxonomies don't partition this</a:t>
            </a:r>
            <a:r>
              <a:rPr sz="1100" b="0">
                <a:solidFill>
                  <a:srgbClr val="475569"/>
                </a:solidFill>
                <a:latin typeface="Calibri"/>
              </a:rPr>
              <a:t>  MAST, hallucination survey, OWASP LLM Top 10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It applies only to perceiving-then-acting systems</a:t>
            </a:r>
            <a:r>
              <a:rPr sz="1100" b="0">
                <a:solidFill>
                  <a:srgbClr val="475569"/>
                </a:solidFill>
                <a:latin typeface="Calibri"/>
              </a:rPr>
              <a:t>  computer-use · browser-use · robotic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The fixes don't live in the prompt</a:t>
            </a:r>
            <a:r>
              <a:rPr sz="1100" b="0">
                <a:solidFill>
                  <a:srgbClr val="475569"/>
                </a:solidFill>
                <a:latin typeface="Calibri"/>
              </a:rPr>
              <a:t>  they live in the spec, the manifest, and the verification step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Smallest contribution that gives the taxonomy a slot</a:t>
            </a:r>
            <a:r>
              <a:rPr sz="1100" b="0">
                <a:solidFill>
                  <a:srgbClr val="475569"/>
                </a:solidFill>
                <a:latin typeface="Calibri"/>
              </a:rPr>
              <a:t>  for a class of failure already observed in deployments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2.4 SPEC-DRIVEN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SDD: the executable protocol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A spec the agent can run and a human can validate. Lineage: spec-kit (GitHub), DevSquad (Microsoft).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13 canonical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1.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6060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2.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3. Authorized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632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4. NOT-authorized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5. Tool 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5204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6. Invariants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776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7. Non-functional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9776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8. 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9. Agent execution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434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10. Oversight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11. Validation checklist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8920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12. Spec evolution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 13. Spec gap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How the framework maps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06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Agency lives in</a:t>
            </a:r>
            <a:r>
              <a:rPr sz="1100" b="0">
                <a:solidFill>
                  <a:srgbClr val="475569"/>
                </a:solidFill>
                <a:latin typeface="Calibri"/>
              </a:rPr>
              <a:t>  §3 (scope) and §4 (NOT-authorized)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Autonomy lives in</a:t>
            </a:r>
            <a:r>
              <a:rPr sz="1100" b="0">
                <a:solidFill>
                  <a:srgbClr val="475569"/>
                </a:solidFill>
                <a:latin typeface="Calibri"/>
              </a:rPr>
              <a:t>  §10 (oversight model)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Responsibility lives in</a:t>
            </a:r>
            <a:r>
              <a:rPr sz="1100" b="0">
                <a:solidFill>
                  <a:srgbClr val="475569"/>
                </a:solidFill>
                <a:latin typeface="Calibri"/>
              </a:rPr>
              <a:t>  §1 (problem) and §11 (validation)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Reversibility lives in</a:t>
            </a:r>
            <a:r>
              <a:rPr sz="1100" b="0">
                <a:solidFill>
                  <a:srgbClr val="475569"/>
                </a:solidFill>
                <a:latin typeface="Calibri"/>
              </a:rPr>
              <a:t>  §5 (manifest) and §6 (invariants)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■  </a:t>
            </a:r>
            <a:r>
              <a:rPr sz="1300" b="1">
                <a:solidFill>
                  <a:srgbClr val="0F172A"/>
                </a:solidFill>
                <a:latin typeface="Calibri"/>
              </a:rPr>
              <a:t>Each failure category</a:t>
            </a:r>
            <a:r>
              <a:rPr sz="1100" b="0">
                <a:solidFill>
                  <a:srgbClr val="475569"/>
                </a:solidFill>
                <a:latin typeface="Calibri"/>
              </a:rPr>
              <a:t>  maps to a specific update site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APPLICATION  ·  CODING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Calibri"/>
              </a:rPr>
              <a:t>Coding agents — where structural fixes compound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Most coding-agent failures look novel; nearly all map to a Cat 1–6 fix-locus.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E3A8A"/>
                </a:solidFill>
                <a:latin typeface="Calibri"/>
              </a:rPr>
              <a:t>■  </a:t>
            </a:r>
            <a:r>
              <a:rPr sz="1600" b="1">
                <a:solidFill>
                  <a:srgbClr val="0F172A"/>
                </a:solidFill>
                <a:latin typeface="Calibri"/>
              </a:rPr>
              <a:t>The deleted-tests failure</a:t>
            </a:r>
            <a:r>
              <a:rPr sz="1400" b="0">
                <a:solidFill>
                  <a:srgbClr val="475569"/>
                </a:solidFill>
                <a:latin typeface="Calibri"/>
              </a:rPr>
              <a:t>  Cat 1 / Cat 3 hybrid — fix in the spec (§4 NOT-authorized) and in CI (test-skip set monotonic), never only in the prompt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3A8A"/>
                </a:solidFill>
                <a:latin typeface="Calibri"/>
              </a:rPr>
              <a:t>■  </a:t>
            </a:r>
            <a:r>
              <a:rPr sz="1600" b="1">
                <a:solidFill>
                  <a:srgbClr val="0F172A"/>
                </a:solidFill>
                <a:latin typeface="Calibri"/>
              </a:rPr>
              <a:t>Three structural controls</a:t>
            </a:r>
            <a:r>
              <a:rPr sz="1400" b="0">
                <a:solidFill>
                  <a:srgbClr val="475569"/>
                </a:solidFill>
                <a:latin typeface="Calibri"/>
              </a:rPr>
              <a:t>  (1) PR-only branch protection  (2) tool manifest excludes unrestricted shell  (3) test-suite invariant in CI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3A8A"/>
                </a:solidFill>
                <a:latin typeface="Calibri"/>
              </a:rPr>
              <a:t>■  </a:t>
            </a:r>
            <a:r>
              <a:rPr sz="1600" b="1">
                <a:solidFill>
                  <a:srgbClr val="0F172A"/>
                </a:solidFill>
                <a:latin typeface="Calibri"/>
              </a:rPr>
              <a:t>The discipline</a:t>
            </a:r>
            <a:r>
              <a:rPr sz="1400" b="0">
                <a:solidFill>
                  <a:srgbClr val="475569"/>
                </a:solidFill>
                <a:latin typeface="Calibri"/>
              </a:rPr>
              <a:t>  structural fixes live in spec / manifest / CI / platform — never only in the prompt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3A8A"/>
                </a:solidFill>
                <a:latin typeface="Calibri"/>
              </a:rPr>
              <a:t>■  </a:t>
            </a:r>
            <a:r>
              <a:rPr sz="1600" b="1">
                <a:solidFill>
                  <a:srgbClr val="0F172A"/>
                </a:solidFill>
                <a:latin typeface="Calibri"/>
              </a:rPr>
              <a:t>What Cat 7 does NOT do here</a:t>
            </a:r>
            <a:r>
              <a:rPr sz="1400" b="0">
                <a:solidFill>
                  <a:srgbClr val="475569"/>
                </a:solidFill>
                <a:latin typeface="Calibri"/>
              </a:rPr>
              <a:t>  coding agents are text-only; they have no perception–action interface that can diverge from environment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APPLICATION  ·  COMPUTER-USE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alibri"/>
              </a:rPr>
              <a:t>Computer-use — where Cat 7 becomes load-bearing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Anthropic Computer Use · OpenAI Operator · Gemini computer use — vision-then-action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New failure surfaces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Lookalike-domain navigation</a:t>
            </a:r>
            <a:r>
              <a:rPr sz="1200" b="0">
                <a:solidFill>
                  <a:srgbClr val="475569"/>
                </a:solidFill>
                <a:latin typeface="Calibri"/>
              </a:rPr>
              <a:t>  homoglyph / typo / subdomain confusion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Visual instruction injection</a:t>
            </a:r>
            <a:r>
              <a:rPr sz="1200" b="0">
                <a:solidFill>
                  <a:srgbClr val="475569"/>
                </a:solidFill>
                <a:latin typeface="Calibri"/>
              </a:rPr>
              <a:t>  rendered text treated as authoritative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Modal popup interception</a:t>
            </a:r>
            <a:r>
              <a:rPr sz="1200" b="0">
                <a:solidFill>
                  <a:srgbClr val="475569"/>
                </a:solidFill>
                <a:latin typeface="Calibri"/>
              </a:rPr>
              <a:t>  adversarial dialog as legitimate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Four structural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06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Sandboxed environment</a:t>
            </a:r>
            <a:r>
              <a:rPr sz="1200" b="0">
                <a:solidFill>
                  <a:srgbClr val="475569"/>
                </a:solidFill>
                <a:latin typeface="Calibri"/>
              </a:rPr>
              <a:t>  no host credentials, files, extensions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Authentication scope minimization</a:t>
            </a:r>
            <a:r>
              <a:rPr sz="1200" b="0">
                <a:solidFill>
                  <a:srgbClr val="475569"/>
                </a:solidFill>
                <a:latin typeface="Calibri"/>
              </a:rPr>
              <a:t>  redirects don't carry session cookies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Domain allowlist</a:t>
            </a:r>
            <a:r>
              <a:rPr sz="1200" b="0">
                <a:solidFill>
                  <a:srgbClr val="475569"/>
                </a:solidFill>
                <a:latin typeface="Calibri"/>
              </a:rPr>
              <a:t>  non-allowlisted redirect halts and surfaces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■  </a:t>
            </a:r>
            <a:r>
              <a:rPr sz="1400" b="1">
                <a:solidFill>
                  <a:srgbClr val="0F172A"/>
                </a:solidFill>
                <a:latin typeface="Calibri"/>
              </a:rPr>
              <a:t>High-consequence confirmation gates</a:t>
            </a:r>
            <a:r>
              <a:rPr sz="1200" b="0">
                <a:solidFill>
                  <a:srgbClr val="475569"/>
                </a:solidFill>
                <a:latin typeface="Calibri"/>
              </a:rPr>
              <a:t>  irreversible-action class always gates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APPLICATION  ·  DEVSQUAD 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Calibri"/>
              </a:rPr>
              <a:t>Composition with Microsoft DevSquad Copilot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DevSquad provides the cadence; the framework provides the design vocabulary. They compose cleanly when the artifact mapping is explicit.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0972800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94560"/>
            <a:ext cx="12801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2194560"/>
            <a:ext cx="41148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DevSquad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08192" y="2194560"/>
            <a:ext cx="54864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Framework artifact / discipline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60604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60604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Envisioning + Spec the slice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606040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Archetype committed; provisional dimensions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54680"/>
            <a:ext cx="109728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15468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315468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Plan only what the slice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154680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Invariants in §6; ADRs constrain §8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03320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0332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370332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Decompose that slice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3703320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Least-Capability tool subset per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51960"/>
            <a:ext cx="109728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25196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425196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Implement with TDD discipline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4251960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Spec acceptance suite gates each commit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800600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480060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1952" y="480060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Learn in the open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8192" y="4800600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Categorize Cat 1–7; trace to fix locus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5349240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1952" y="5349240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Review in independent 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8192" y="5349240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Validation in fresh sub-agent context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897879"/>
            <a:ext cx="10972800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897879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Phase 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1952" y="5897879"/>
            <a:ext cx="4114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Refine continuously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897879"/>
            <a:ext cx="5486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Four signal metrics drive next sprint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Where this framework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Position-and-framework paper. No quantitative validation at scale yet — acknowledged explicitly.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Position paper, not empirical</a:t>
            </a:r>
            <a:r>
              <a:rPr sz="1300" b="0">
                <a:solidFill>
                  <a:srgbClr val="475569"/>
                </a:solidFill>
                <a:latin typeface="Calibri"/>
              </a:rPr>
              <a:t>  Applied across three worked examples; quantitative validation across many independent deployments is future work.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Coarse partitions</a:t>
            </a:r>
            <a:r>
              <a:rPr sz="1300" b="0">
                <a:solidFill>
                  <a:srgbClr val="475569"/>
                </a:solidFill>
                <a:latin typeface="Calibri"/>
              </a:rPr>
              <a:t>  Five archetypes, four dimensions, seven categories — opinionated rather than derived.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Multi-tenant fleet governance is missing</a:t>
            </a:r>
            <a:r>
              <a:rPr sz="1300" b="0">
                <a:solidFill>
                  <a:srgbClr val="475569"/>
                </a:solidFill>
                <a:latin typeface="Calibri"/>
              </a:rPr>
              <a:t>  The framework currently does not address the governance of large fleets of agents at scale.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Cardinality is judgment, not theorem</a:t>
            </a:r>
            <a:r>
              <a:rPr sz="1300" b="0">
                <a:solidFill>
                  <a:srgbClr val="475569"/>
                </a:solidFill>
                <a:latin typeface="Calibri"/>
              </a:rPr>
              <a:t>  Reasonable readers may propose six categories or eight; the framework's working choice is seven.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Cat 7 sub-categories may evolve</a:t>
            </a:r>
            <a:r>
              <a:rPr sz="1300" b="0">
                <a:solidFill>
                  <a:srgbClr val="475569"/>
                </a:solidFill>
                <a:latin typeface="Calibri"/>
              </a:rPr>
              <a:t>  Computer-use is young; the four sub-categories will likely be revised as the deployment surface matures.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 TAKE-HOMES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What to try Monday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Pick one agent system you're operating</a:t>
            </a:r>
            <a:r>
              <a:rPr sz="1300" b="0">
                <a:solidFill>
                  <a:srgbClr val="475569"/>
                </a:solidFill>
                <a:latin typeface="Calibri"/>
              </a:rPr>
              <a:t>  Run the archetype decision tree against it. Does the result match what you have today?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Write the spec for its most consequential action</a:t>
            </a:r>
            <a:r>
              <a:rPr sz="1300" b="0">
                <a:solidFill>
                  <a:srgbClr val="475569"/>
                </a:solidFill>
                <a:latin typeface="Calibri"/>
              </a:rPr>
              <a:t>  Use the canonical template. Focus on §3 (scope) and §4 (NOT-authorized). The first draft will feel incomplete — that is the point.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Categorize the first three failures</a:t>
            </a:r>
            <a:r>
              <a:rPr sz="1300" b="0">
                <a:solidFill>
                  <a:srgbClr val="475569"/>
                </a:solidFill>
                <a:latin typeface="Calibri"/>
              </a:rPr>
              <a:t>  Apply the diagnostic test, walk Cat 1–7, trace to the fix locus. How many were spec gaps versus model limits?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Surface ambiguity, don't resolve</a:t>
            </a:r>
            <a:r>
              <a:rPr sz="1300" b="0">
                <a:solidFill>
                  <a:srgbClr val="475569"/>
                </a:solidFill>
                <a:latin typeface="Calibri"/>
              </a:rPr>
              <a:t>  When the spec is unclear, the agent's job is to surface, not to guess. Wire AskUserQuestion into the harness AND calibrate the judgment to use it.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Calibri"/>
              </a:rPr>
              <a:t>■  </a:t>
            </a:r>
            <a:r>
              <a:rPr sz="1500" b="1">
                <a:solidFill>
                  <a:srgbClr val="0F172A"/>
                </a:solidFill>
                <a:latin typeface="Calibri"/>
              </a:rPr>
              <a:t>Compound the learning</a:t>
            </a:r>
            <a:r>
              <a:rPr sz="1300" b="0">
                <a:solidFill>
                  <a:srgbClr val="475569"/>
                </a:solidFill>
                <a:latin typeface="Calibri"/>
              </a:rPr>
              <a:t>  Each diagnosed failure improves a spec or a skill. The improvement is durable and propagates to every future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The Architecture of Intent  —  Aldecoa,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137160" cy="2103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 i="1">
                <a:solidFill>
                  <a:srgbClr val="F8FAFC"/>
                </a:solidFill>
                <a:latin typeface="Calibri"/>
              </a:rPr>
              <a:t>Three prompts to start the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1.  Where in your team is intent currently implicit, and where would making it explicit pay off most?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2.  What's the last agent failure you saw — and which Cat 1–7 was it, really?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F8FAFC"/>
                </a:solidFill>
                <a:latin typeface="Calibri"/>
              </a:rPr>
              <a:t>3.  Are your structural controls (spec, manifest, CI, platform) doing the work that today still lives in prompts?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1">
                <a:solidFill>
                  <a:srgbClr val="F8FAFC"/>
                </a:solidFill>
                <a:latin typeface="Calibri"/>
              </a:rPr>
              <a:t>Paper: marcelaldecoa.github.io/TheArchitectureOfIntent  ·  Companion book: same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