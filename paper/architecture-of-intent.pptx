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286000"/>
            <a:ext cx="109728" cy="2377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22860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300">
                <a:solidFill>
                  <a:srgbClr val="F59E0B"/>
                </a:solidFill>
                <a:latin typeface="Calibri"/>
              </a:rPr>
              <a:t>TEACHING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606040"/>
            <a:ext cx="1005840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The Architecture of Intent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84048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  <a:latin typeface="Calibri"/>
              </a:rPr>
              <a:t>A Framework for Designing Delegated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663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 i="0" spc="100">
                <a:solidFill>
                  <a:srgbClr val="FFFFFF"/>
                </a:solidFill>
                <a:latin typeface="Calibri"/>
              </a:rPr>
              <a:t>Marcel Aldecoa    ·  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02920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Position-and-framework paper · ~15,000 words / 34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46520"/>
            <a:ext cx="377647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 spc="250">
                <a:solidFill>
                  <a:srgbClr val="94A3B8"/>
                </a:solidFill>
                <a:latin typeface="Calibri"/>
              </a:rPr>
              <a:t>TEACHING DECK  ·  COMPANION TO THE PAPER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 i="0">
                <a:solidFill>
                  <a:srgbClr val="0F1729"/>
                </a:solidFill>
                <a:latin typeface="Calibri"/>
              </a:rPr>
              <a:t>What we'll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91640" y="246888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874519" y="237744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74320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Why intent is a design surface, and the judgment gap of 2024–2026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91640" y="324612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74519" y="315468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The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2044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Five archetypes · four dimensions · seven failures · spec-driven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8620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91640" y="402336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874519" y="393192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9768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Coding agents, computer-use agents, composition with DevSquad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4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91640" y="480060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874519" y="470916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Honest accounting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507492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What is novel, what is borrowed, what we deliberately don't claim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91640" y="557784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874519" y="548640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Take-homes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585216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Limitations, where the framework breaks, what to try Monday morning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82880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0" b="1" i="0">
                <a:solidFill>
                  <a:srgbClr val="6366F1"/>
                </a:solidFill>
                <a:latin typeface="Georgia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0F1729"/>
                </a:solidFill>
                <a:latin typeface="Calibri"/>
              </a:rPr>
              <a:t>Delegation is a structural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926080"/>
            <a:ext cx="914400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0" i="1">
                <a:solidFill>
                  <a:srgbClr val="64748B"/>
                </a:solidFill>
                <a:latin typeface="Calibri"/>
              </a:rPr>
              <a:t>Humans must express intent precisely enough that a non-human</a:t>
            </a:r>
          </a:p>
          <a:p>
            <a:pPr algn="l"/>
            <a:r>
              <a:rPr sz="2200" b="0" i="1">
                <a:solidFill>
                  <a:srgbClr val="64748B"/>
                </a:solidFill>
                <a:latin typeface="Calibri"/>
              </a:rPr>
              <a:t>executor can act on it without supervisory rescue.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212080"/>
            <a:ext cx="1090879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51592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The framework's central claim is that intent is a primary design artifact distinct from implementation. AI agents are the class where this becomes load-bearing — because the executor is probabilistic.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 i="0">
                <a:solidFill>
                  <a:srgbClr val="0F1729"/>
                </a:solidFill>
                <a:latin typeface="Calibri"/>
              </a:rPr>
              <a:t>The judgment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An execution-first bias in current agent harnesses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164592" cy="39319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366F1"/>
                </a:solidFill>
                <a:latin typeface="Calibri"/>
              </a:rPr>
              <a:t>SENIOR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Surfaces ambiguity before acting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Asks "is this what you mean?"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Refuses ill-posed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9204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Treats clarification as load-bearing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2331720"/>
            <a:ext cx="164592" cy="3931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LLM AGENT (with AskUserQuestion)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Executes first, even on under-specified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Pauses rarely, even when tools exist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Reaches for action before reaching for clarification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89204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Tool exists; judgment to use it is not yet calibrated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01 · HONEST ACCOUNTING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 i="0">
                <a:solidFill>
                  <a:srgbClr val="0F1729"/>
                </a:solidFill>
                <a:latin typeface="Calibri"/>
              </a:rPr>
              <a:t>What we claim, what we don't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Reviewers reward narrow novelty claims. Overclaiming gets punished.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164592" cy="3931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10B981"/>
                </a:solidFill>
                <a:latin typeface="Calibri"/>
              </a:rPr>
              <a:t>CLAIMED AS NOVEL  · 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Cat 7 (Perceptual Failure) for perceiving-then-acting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Orthogonality of agency × autonomy (extends Shavit &amp; Agarwal 2023)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Fix-locus framing of the failure taxonomy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331720"/>
            <a:ext cx="164592" cy="39319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EXPLICITLY NOT CLAIMED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SDD as a discipline  —  lineage: spec-kit, DevSquad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Archetypes as concept  —  lineage: Anthropic Building Effective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Four dimensions individually  —  lineage: SAE J3016, Shavit &amp; Agarwal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489204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Cat 1–6 as categories  —  synthesis from common 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 ·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Four load-bearing elements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The synthesis is the larger contribution. The four bind into a framework you can apply in design, in spec review, and in post-incident diagnosis.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ARCHETYPES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Five canonical delegation shapes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Advisor · Executor · Guardian · Synthesizer · Orchestrator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7026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026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DIMENSIONS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7026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Four orthogonal calibration dials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Agency · Autonomy · Responsibility · Reversibility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6772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6772" y="2606040"/>
            <a:ext cx="260375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5372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FAILURE TAXONOMY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5372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Seven categories by fix locus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5372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Cat 1 (Spec) → Cat 6 (Model) · Cat 7 (Perceptual) — NOVEL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5118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5118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3718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3718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PROTOCOL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3718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Spec-Driven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3718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An executable spec the agent runs and a human validates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02.1 ·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Five canonical delegation 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Pre-commit a system to one shape before design begins. Composition is permitted.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10881360" cy="50292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8288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Archetype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468880"/>
            <a:ext cx="35661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Primary intent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468880"/>
            <a:ext cx="4389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Examples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Advisor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71800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Surfaces options; the human 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71800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Code-review suggester · search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38728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Executor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538728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Acts within a defined 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38728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CI/CD pipeline · deploy 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05656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05656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Guardian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05656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Vetoes; protects a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105656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Compliance gate · safety 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72584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Synthesizer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672584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Combines inputs into a new whole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672584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Research summarizer · report generator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239512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39512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Orchestrator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239512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Coordinates other agents/services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239512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Multi-agent supervisor · planner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02.1 ·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The selection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Apply each question in order. Stop at the first match. Risk-override applies.</a:t>
            </a:r>
          </a:p>
        </p:txBody>
      </p:sp>
      <p:pic>
        <p:nvPicPr>
          <p:cNvPr id="6" name="Picture 5" descr="archetype-decisio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56" y="2377440"/>
            <a:ext cx="5155583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26480"/>
            <a:ext cx="10908792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Figure 1. Composition is permitted: a deployment may host multiple archetypes.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02.2 ·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Four orthogonal dials, set deliberately in the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Most teams collapse these into "how autonomous is the agent?" — the intuition hides the calibration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AGENCY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discretion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much judgment when instructions don't fully cover the situation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8426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8426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7026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AUTONOMY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7026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operation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026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much of the work runs without human intervention at each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6772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5372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RESPONSIBILITY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5372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accountability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5372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accountability is distributed across the humans around the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45118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45118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3718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REVERSIBILITY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3718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3718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easy or hard it is to undo what the agent did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02.2 ·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Agency × Autonomy: orthogonal, not collinear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Treating both as a single "automation level" (e.g., SAE J3016) collapses the design space onto a diagonal. Real systems sit in all four quadrants.</a:t>
            </a:r>
          </a:p>
        </p:txBody>
      </p:sp>
      <p:pic>
        <p:nvPicPr>
          <p:cNvPr id="6" name="Picture 5" descr="four-dimensions-orthog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3786" y="2377440"/>
            <a:ext cx="5584122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26480"/>
            <a:ext cx="10908792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Figure 2. The other two dimensions (Responsibility, Reversibility) are similarly orthogonal.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02.3 · FAILURE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Seven categories, organized by fix locus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Diagnostic test: "If a competent agent had executed this spec as written, would the outcome have been correct?"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10908792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502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423160"/>
            <a:ext cx="11430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423160"/>
            <a:ext cx="379476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Failure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2423160"/>
            <a:ext cx="4005072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Fix locus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80360"/>
            <a:ext cx="109087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88036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88036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Spec was incomplete, ambiguous, or wrong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88036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Update the spec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383280"/>
            <a:ext cx="10908792" cy="50292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8328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38328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Capability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38328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Agent lacked or misused 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38328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Add or fix the tool / manifest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86200"/>
            <a:ext cx="109087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88620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388620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Scope creep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620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Agent did adjacent work it wasn't authorized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88620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Tighten NOT-authorized clauses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389120"/>
            <a:ext cx="10908792" cy="50292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38912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38912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Oversight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38912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Error escaped the review checkpoint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438912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Redesign the oversight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892040"/>
            <a:ext cx="109087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89204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489204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Compounding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489204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Early error cascaded through later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489204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Checkpoint at the handoff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394960"/>
            <a:ext cx="10908792" cy="50292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39496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539496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Model-level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539496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Model failed despite a correct spec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539496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Narrow scope, switch model, or accept residual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897880"/>
            <a:ext cx="10908792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" y="589788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89788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92400E"/>
                </a:solidFill>
                <a:latin typeface="Calibri"/>
              </a:rPr>
              <a:t>Cat 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91640" y="589788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92400E"/>
                </a:solidFill>
                <a:latin typeface="Calibri"/>
              </a:rPr>
              <a:t>Perceptual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589788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Perception diverged from environment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589788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Structural controls + verification step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02.3 · THE NOVEL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92400E"/>
                </a:solidFill>
                <a:latin typeface="Calibri"/>
              </a:rPr>
              <a:t>Cat 7  —  Perceptual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The system's perception of the environment diverged from the actual state, and the system acted on the wrong perception.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0F1729"/>
                </a:solidFill>
                <a:latin typeface="Calibri"/>
              </a:rPr>
              <a:t>FOUR SUB-CATEGORIES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71800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71800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Misidentification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71800" y="3081528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08960" y="2971800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Confirmation gate before high-consequence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85032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685032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85032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Missed element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1800" y="3794760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08960" y="3685032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Screenshot-then-verify before consequential action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98264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398264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98264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Hallucinated element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71800" y="4507992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08960" y="4398264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Element-allowlist + DOM-grounded verification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11496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111496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111496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State miscount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71800" y="5221224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108960" y="5111496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Re-verify position-based facts at action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60604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0F1729"/>
                </a:solidFill>
                <a:latin typeface="Calibri"/>
              </a:rPr>
              <a:t>WHY A SEPARATE CATEGORY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971800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2971800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Prior taxonomies don't partition this — MAST, hallucination survey, OWASP LLM Top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685032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85032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Applies only to perceiving-then-acting systems — computer-use · browser-use · robotic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398264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398264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The fixes don't live in the prompt — they live in the spec, manifest, and verification step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111496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5111496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Smallest contribution that gives the taxonomy a slot for a class already observed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02.4 · SPEC-DRIVEN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SDD: the executable protocol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 spec the agent can run and a human can validate. Lineage: spec-kit (GitHub), DevSquad (Microsoft).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366F1"/>
                </a:solidFill>
                <a:latin typeface="Calibri"/>
              </a:rPr>
              <a:t>13 CANONICAL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1. 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8346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2.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3. Authorized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24612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4. NOT-authorized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5. Tool manifest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65760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6. Invariants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7. Non-functional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406908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8. 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9. Execution instructions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48056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10. Oversight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11. 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48920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12. Spec evolution 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0352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13. Spec gap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366F1"/>
                </a:solidFill>
                <a:latin typeface="Calibri"/>
              </a:rPr>
              <a:t>HOW THE FRAMEWORK MAPS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3464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83464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Agency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2724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§3 (scope) and §4 (NOT-authorized)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47472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47472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Autonomy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7673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§10 (oversight model)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11480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1480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Responsibility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40740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§1 (problem) and §11 (validation)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754879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754879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Reversibility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04748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§5 (manifest) and §6 (invariants)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39496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539496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Each failure cat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568756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maps to a specific update site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03 · APPLICATION  ·  CODING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Coding agents — where structural fixes compound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Most coding-agent failures look novel; nearly all map to a Cat 1–6 fix-locus.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9631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The deleted-tests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072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Cat 1 / Cat 3 hybrid. Fix in the spec (§4 NOT-authorized) and in CI (test-skip set monotonic) — never only in the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27832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0954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Three structural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20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(1) PR-only branch protection. (2) Tool manifest excludes unrestricted shell. (3) Test-suite invariant in 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4106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41064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2277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The discipline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23367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Structural fixes live in spec / manifest / CI / platform. Prompt-level patches don't compound.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5429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54296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6360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What Cat 7 does NOT do 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4690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Coding agents are text-only. They have no perception–action interface that can diverge from environment state.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03 · APPLICATION  ·  COMPUTER-USE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Computer-use — where Cat 7 becomes load-bearing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Anthropic Computer Use · OpenAI Operator · Gemini computer use — vision-then-action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NEW FAILURE SURFACES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Lookalike-domain navigation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27248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homoglyph · typo · subdomain confusion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Visual instruction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67328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rendered text treated as authoritative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Modal popup interception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adversarial dialog read as legitimate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FOUR STRUCTURAL CONTROLS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3464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83464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Sandboxed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12724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no host credentials, files, extensions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47472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47472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Auth-scope minimization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673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redirects don't carry session cookies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11480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11480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Domain allowlist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40740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non-allowlisted redirect halts and surfaces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54879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754879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High-consequence 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04748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irreversible-action class always gates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03 · APPLICATION  ·  DEVSQUAD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Composition with Microsoft DevSquad Copilot (2026)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DevSquad provides the cadence; the framework provides the design vocabulary. They compose cleanly when the artifact mapping is explicit.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10881360" cy="50292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8288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468880"/>
            <a:ext cx="35661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DevSquad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468880"/>
            <a:ext cx="4389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Framework artifact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71800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Envisioning + Spec the slice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71800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Archetype committed; provisional dimensions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38728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538728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Plan only what the slice needs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38728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Invariants in §6; ADRs constrain §8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05656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05656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05656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Decompose that slice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105656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Least-Capability tool subset per task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72584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672584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Implement with TDD discipline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672584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Spec acceptance suite gates each commit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239512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39512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239512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Learn in the 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239512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Categorize Cat 1–7; trace to fix locus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806440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5806440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Review in independent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806440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Validation in fresh sub-agent context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73368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6373368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6373368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Refine continuously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6373368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Four signal metrics drive next sprint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04 ·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Where this framework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Position-and-framework paper. No quantitative validation at scale yet — acknowledged explicitly.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9631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Position paper, not empirical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072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Applied across three worked examples. Quantitative validation across many independent deployments is future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27832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0954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Coarse partitions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20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Five archetypes, four dimensions, seven categories — opinionated rather than derived.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4106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41064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2277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Multi-tenant fleet governance is missing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23367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The framework currently does not address governance of large fleets of agents at scale.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5429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54296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6360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Cardinality is judgment, not theorem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4690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Reasonable readers may propose six categories or eight; the framework's working choice is seven.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67528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67528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492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Cat 7 sub-categories may evolve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66013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Computer-use is young; the four sub-categories will likely be revised as the deployment surface matures.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05 · TAKE-HOMES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What to try Monday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Five concrete experiments any team can run on the system they're building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9631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Pick one agent system you're operating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072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Run the archetype decision tree against it. Does the result match what you have today?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27832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0954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Write the spec for its most consequential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20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Use the canonical template. Focus on §3 (scope) and §4 (NOT-authorized). The first draft will feel incomplete — that is the 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4106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41064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2277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Categorize the first three failures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23367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Apply the diagnostic test, walk Cat 1–7, trace to the fix locus. How many were spec gaps versus model limits?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5429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54296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6360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Surface ambiguity, don't resolve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4690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When the spec is unclear, the agent's job is to surface, not to guess. Wire AskUserQuestion into the harness AND calibrate the judgment to use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67528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67528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492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Compound the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66013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Each diagnosed failure improves a spec or a skill. The improvement is durable and propagates to every future task.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371600"/>
            <a:ext cx="109728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3716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100584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Three prompts to start the conversation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383280"/>
            <a:ext cx="640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338328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Where in your team is intent currently implicit, and where would making it explicit pay off most?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160520"/>
            <a:ext cx="640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416052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What's the last agent failure you saw — and which Cat 1–7 was it, really?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937760"/>
            <a:ext cx="640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93776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Are your structural controls (spec, manifest, CI, platform) doing the work that today still lives in prompts?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263640"/>
            <a:ext cx="10058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Paper · marcelaldecoa.github.io/TheArchitectureOfIntent  ·  Companion book at the same site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