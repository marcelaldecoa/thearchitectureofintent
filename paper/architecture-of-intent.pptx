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109728" cy="2377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7315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300">
                <a:solidFill>
                  <a:srgbClr val="F59E0B"/>
                </a:solidFill>
                <a:latin typeface="Calibri"/>
              </a:rPr>
              <a:t>TEACHING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606040"/>
            <a:ext cx="1005840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The Architecture of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840480"/>
            <a:ext cx="10058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Calibri"/>
              </a:rPr>
              <a:t>A Framework for Designing Delegated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6634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 i="0" spc="100">
                <a:solidFill>
                  <a:srgbClr val="FFFFFF"/>
                </a:solidFill>
                <a:latin typeface="Calibri"/>
              </a:rPr>
              <a:t>Marcel Aldecoa    ·  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Position-and-framework paper · ~15,000 words / 34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776472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 spc="250">
                <a:solidFill>
                  <a:srgbClr val="94A3B8"/>
                </a:solidFill>
                <a:latin typeface="Calibri"/>
              </a:rPr>
              <a:t>TEACHING DECK  ·  COMPANION TO THE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400" b="1" i="0">
                <a:solidFill>
                  <a:srgbClr val="0F1729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0584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6366F1"/>
                </a:solidFill>
                <a:latin typeface="Calibri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91640" y="2468880"/>
            <a:ext cx="0" cy="5029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74519" y="2377440"/>
            <a:ext cx="91440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0F1729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4320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Why intent is a design surface, and the judgment gap of 2024–2026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0584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6366F1"/>
                </a:solidFill>
                <a:latin typeface="Calibri"/>
              </a:rPr>
              <a:t>02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1640" y="3246120"/>
            <a:ext cx="0" cy="5029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74519" y="3154680"/>
            <a:ext cx="91440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0F1729"/>
                </a:solidFill>
                <a:latin typeface="Calibri"/>
              </a:rPr>
              <a:t>The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2044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Five archetypes · four dimensions · seven failures · spec-driven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00584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6366F1"/>
                </a:solidFill>
                <a:latin typeface="Calibri"/>
              </a:rPr>
              <a:t>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1640" y="4023360"/>
            <a:ext cx="0" cy="5029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74519" y="3931920"/>
            <a:ext cx="91440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0F1729"/>
                </a:solidFill>
                <a:latin typeface="Calibri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29768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Coding agents, computer-use agents, composition with DevSquad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100584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6366F1"/>
                </a:solidFill>
                <a:latin typeface="Calibri"/>
              </a:rPr>
              <a:t>04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91640" y="4800600"/>
            <a:ext cx="0" cy="5029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74519" y="4709160"/>
            <a:ext cx="91440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0F1729"/>
                </a:solidFill>
                <a:latin typeface="Calibri"/>
              </a:rPr>
              <a:t>Honest accounting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07492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What is novel, what is borrowed, what we deliberately don't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0584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6366F1"/>
                </a:solidFill>
                <a:latin typeface="Calibri"/>
              </a:rPr>
              <a:t>05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91640" y="5577840"/>
            <a:ext cx="0" cy="5029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74519" y="5486400"/>
            <a:ext cx="91440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0F1729"/>
                </a:solidFill>
                <a:latin typeface="Calibri"/>
              </a:rPr>
              <a:t>Take-homes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85216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Limitations, where the framework breaks, what to try Monday morning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8288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0" b="1" i="0">
                <a:solidFill>
                  <a:srgbClr val="6366F1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91440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0F1729"/>
                </a:solidFill>
                <a:latin typeface="Calibri"/>
              </a:rPr>
              <a:t>Delegation is a structural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914400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0" i="1">
                <a:solidFill>
                  <a:srgbClr val="64748B"/>
                </a:solidFill>
                <a:latin typeface="Calibri"/>
              </a:rPr>
              <a:t>Humans must express intent precisely enough that a non-human</a:t>
            </a:r>
          </a:p>
          <a:p>
            <a:pPr algn="l"/>
            <a:r>
              <a:rPr sz="2200" b="0" i="1">
                <a:solidFill>
                  <a:srgbClr val="64748B"/>
                </a:solidFill>
                <a:latin typeface="Calibri"/>
              </a:rPr>
              <a:t>executor can act on it without supervisory rescue.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109087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The framework's central claim is that intent is a primary design artifact distinct from implementation. AI agents are the class where this becomes load-bearing — because the executor is probabilistic.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400" b="1" i="0">
                <a:solidFill>
                  <a:srgbClr val="0F1729"/>
                </a:solidFill>
                <a:latin typeface="Calibri"/>
              </a:rPr>
              <a:t>The judgment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An execution-first bias in current agent harnesses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64592" cy="3931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9204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366F1"/>
                </a:solidFill>
                <a:latin typeface="Calibri"/>
              </a:rPr>
              <a:t>SENIOR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Surfaces ambiguity before acting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Asks "is this what you mean?"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Refuses ill-posed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Treats clarification as load-bearing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33172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2331720"/>
            <a:ext cx="164592" cy="3931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651760"/>
            <a:ext cx="489204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F59E0B"/>
                </a:solidFill>
                <a:latin typeface="Calibri"/>
              </a:rPr>
              <a:t>LLM AGENT (with AskUserQuestion)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10896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Executes first, even on under-specified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70332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Pauses rarely, even when tools exist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9768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Reaches for action before reaching for clarification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89204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Tool exists; judgment to use it is not yet calibrated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01 · HONEST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400" b="1" i="0">
                <a:solidFill>
                  <a:srgbClr val="0F1729"/>
                </a:solidFill>
                <a:latin typeface="Calibri"/>
              </a:rPr>
              <a:t>What we claim, what we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Reviewers reward narrow novelty claims. Overclaiming gets punished.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64592" cy="3931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9204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10B981"/>
                </a:solidFill>
                <a:latin typeface="Calibri"/>
              </a:rPr>
              <a:t>CLAIMED AS NOVEL  ·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Cat 7 (Perceptual Failure) for perceiving-then-acting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Orthogonality of agency × autonomy (extends Shavit &amp; Agarwal 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Fix-locus framing of the failure taxonomy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33172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331720"/>
            <a:ext cx="164592" cy="39319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651760"/>
            <a:ext cx="489204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EXPLICITLY NOT CLAIMED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10896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SDD as a discipline  —  lineage: spec-kit, DevSquad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70332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Archetypes as concept  —  lineage: Anthropic Building Effective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29768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Four dimensions individually  —  lineage: SAE J3016, Shavit &amp; Agarwal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892040"/>
            <a:ext cx="5074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•   </a:t>
            </a:r>
            <a:r>
              <a:rPr sz="1400" b="0" i="0">
                <a:solidFill>
                  <a:srgbClr val="0F1729"/>
                </a:solidFill>
                <a:latin typeface="Calibri"/>
              </a:rPr>
              <a:t>Cat 1–6 as categories  —  synthesis from common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 ·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0F1729"/>
                </a:solidFill>
                <a:latin typeface="Calibri"/>
              </a:rPr>
              <a:t>Five activities, one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The framework is organized along an activity spine. Each activity binds a specific load-bearing list; reading the framework along the spine makes the rest fit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0881360" cy="50292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8288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35661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Binds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468880"/>
            <a:ext cx="4389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5 archetypes · 4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71800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Archetype +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38728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Specify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38728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12 spec sections · sub-blocks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38728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The canonical spec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05656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Delegate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105656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8 pattern categories · 4 oversight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105656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Bound agent + oversight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72584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672584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7 failure cats · 4 signal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672584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Diagnosed failures, fix-locus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39512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39512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Evolve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239512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Closed loop · audit · versioning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239512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Structural amendments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 · THE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0F1729"/>
                </a:solidFill>
                <a:latin typeface="Calibri"/>
              </a:rPr>
              <a:t>Four load-bearing elements bound to the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The synthesis is the larger contribution. The four bind into a framework you can apply in design, in spec review, and in post-incident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2603754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ARCHETYPES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Five canonical delegation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2146554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Advisor · Executor · Guardian · Synthesizer · Orchestrator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2606040"/>
            <a:ext cx="2603754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7026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DIMENSIONS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Four orthogonal calibration dials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5212080"/>
            <a:ext cx="2146554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Agency · Autonomy · Responsibility · Reversibility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6772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6772" y="2606040"/>
            <a:ext cx="2603754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5372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FAILURE TAXONOMY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Seven categories by fix locus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5212080"/>
            <a:ext cx="2146554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Cat 1 (Spec) → Cat 6 (Model) · Cat 7 (Perceptual) — NOVEL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5118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5118" y="2606040"/>
            <a:ext cx="2603754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3718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3718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Spec-Driven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718" y="5212080"/>
            <a:ext cx="2146554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An executable spec the agent runs and a human validates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02.1 ·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0F1729"/>
                </a:solidFill>
                <a:latin typeface="Calibri"/>
              </a:rPr>
              <a:t>Five canonical delegation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Pre-commit a system to one shape before design begins. Composition is permitted.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0881360" cy="50292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8288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35661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Primary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468880"/>
            <a:ext cx="4389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Surfaces options; the human 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71800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Code-review suggester · search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38728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38728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Acts within a defined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38728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CI/CD pipeline · deploy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05656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Guardian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105656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Vetoes; protects a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105656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Compliance gate · safety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72584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Synthesizer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672584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Combines inputs into a new whole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672584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Research summarizer · report generator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39512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39512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239512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Coordinates other agents/services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239512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Multi-agent supervisor · planner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02.1 ·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The selection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Apply each question in order. Stop at the first match. Risk-override applies.</a:t>
            </a:r>
          </a:p>
        </p:txBody>
      </p:sp>
      <p:pic>
        <p:nvPicPr>
          <p:cNvPr id="6" name="Picture 5" descr="archetype-decision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056" y="2377440"/>
            <a:ext cx="5155583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26480"/>
            <a:ext cx="10908792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Figure 1. Composition is permitted: a deployment may host multiple archetypes.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02.2 ·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0F1729"/>
                </a:solidFill>
                <a:latin typeface="Calibri"/>
              </a:rPr>
              <a:t>Four orthogonal dials, set deliberately in the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Most teams collapse these into "how autonomous is the agent?" — the intuition hides the calibration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2603754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discretion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How much judgment when instructions don't fully cover the situation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8426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8426" y="2606040"/>
            <a:ext cx="2603754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7026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AUTONOMY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7026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How much of the work runs without human intervention at each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772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2606040"/>
            <a:ext cx="2603754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5372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RESPONSIBILITY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5372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5372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How accountability is distributed across the humans around the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5118" y="2606040"/>
            <a:ext cx="2603754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5118" y="2606040"/>
            <a:ext cx="2603754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3718" y="2926080"/>
            <a:ext cx="214655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REVERSIBILITY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3718" y="3566160"/>
            <a:ext cx="214655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 spc="200">
                <a:solidFill>
                  <a:srgbClr val="0F1729"/>
                </a:solidFill>
                <a:latin typeface="Calibri"/>
              </a:rPr>
              <a:t>consequence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3718" y="4069080"/>
            <a:ext cx="214655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0F1729"/>
                </a:solidFill>
                <a:latin typeface="Calibri"/>
              </a:rPr>
              <a:t>How easy or hard it is to undo what the agent did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02.2 ·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Agency × Autonomy: orthogonal, not collinear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Treating both as a single "automation level" (e.g., SAE J3016) collapses the design space onto a diagonal. Real systems sit in all four quadrants.</a:t>
            </a:r>
          </a:p>
        </p:txBody>
      </p:sp>
      <p:pic>
        <p:nvPicPr>
          <p:cNvPr id="6" name="Picture 5" descr="four-dimensions-orthog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786" y="2377440"/>
            <a:ext cx="5584122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26480"/>
            <a:ext cx="10908792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Figure 2. The other two dimensions (Responsibility, Reversibility) are similarly orthogonal.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02.3 · FAILURE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Seven categories, organized by fix locus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Diagnostic test: "If a competent agent had executed this spec as written, would the outcome have been correct?"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0908792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02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23160"/>
            <a:ext cx="11430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23160"/>
            <a:ext cx="3794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Failure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423160"/>
            <a:ext cx="4005072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Fix locus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90879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Cat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80360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37947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Spec was incomplete, ambiguous, or wrong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880360"/>
            <a:ext cx="4005072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Update the spec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83280"/>
            <a:ext cx="10908792" cy="50292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Cat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83280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383280"/>
            <a:ext cx="37947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Agent lacked or misused a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383280"/>
            <a:ext cx="4005072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Add or fix the tool / manifest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1090879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Cat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886200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Scope creep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6200"/>
            <a:ext cx="37947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Agent did adjacent work it wasn't 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886200"/>
            <a:ext cx="4005072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Tighten NOT-authorized clauses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89120"/>
            <a:ext cx="10908792" cy="50292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Cat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389120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Oversight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389120"/>
            <a:ext cx="37947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Error escaped the review checkpoint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389120"/>
            <a:ext cx="4005072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Redesign the oversight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92040"/>
            <a:ext cx="1090879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Cat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92040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Compounding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92040"/>
            <a:ext cx="37947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Early error cascaded through later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892040"/>
            <a:ext cx="4005072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Checkpoint at the handoff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394960"/>
            <a:ext cx="10908792" cy="50292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Cat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394960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Model-level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394960"/>
            <a:ext cx="37947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Model failed despite a correct spec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5394960"/>
            <a:ext cx="4005072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Narrow scope, switch model, or accept residual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897880"/>
            <a:ext cx="10908792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89788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97880"/>
            <a:ext cx="502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92400E"/>
                </a:solidFill>
                <a:latin typeface="Calibri"/>
              </a:rPr>
              <a:t>Cat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897880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92400E"/>
                </a:solidFill>
                <a:latin typeface="Calibri"/>
              </a:rPr>
              <a:t>Perceptual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897880"/>
            <a:ext cx="37947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Perception diverged from environment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5897880"/>
            <a:ext cx="4005072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Structural controls + verification 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02.3 · THE NOVEL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92400E"/>
                </a:solidFill>
                <a:latin typeface="Calibri"/>
              </a:rPr>
              <a:t>Cat 7  —  Perceptual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The system's perception of the environment diverged from the actual state, and the system acted on the wrong perception.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0F1729"/>
                </a:solidFill>
                <a:latin typeface="Calibri"/>
              </a:rPr>
              <a:t>FOUR SUB-CATEGORIES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548640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71800"/>
            <a:ext cx="10972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1031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Misidentification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3081528"/>
            <a:ext cx="0" cy="374904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08960" y="2971800"/>
            <a:ext cx="292608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92400E"/>
                </a:solidFill>
                <a:latin typeface="Calibri"/>
              </a:rPr>
              <a:t>Confirmation gate before high-consequence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85032"/>
            <a:ext cx="548640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85032"/>
            <a:ext cx="10972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85032"/>
            <a:ext cx="21031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Missed element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3794760"/>
            <a:ext cx="0" cy="374904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8960" y="3685032"/>
            <a:ext cx="292608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92400E"/>
                </a:solidFill>
                <a:latin typeface="Calibri"/>
              </a:rPr>
              <a:t>Screenshot-then-verify before consequential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98264"/>
            <a:ext cx="548640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98264"/>
            <a:ext cx="10972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98264"/>
            <a:ext cx="21031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Hallucinated element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4507992"/>
            <a:ext cx="0" cy="374904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08960" y="4398264"/>
            <a:ext cx="292608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92400E"/>
                </a:solidFill>
                <a:latin typeface="Calibri"/>
              </a:rPr>
              <a:t>Element-allowlist + DOM-grounded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11496"/>
            <a:ext cx="548640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11496"/>
            <a:ext cx="10972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11496"/>
            <a:ext cx="21031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State miscount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71800" y="5221224"/>
            <a:ext cx="0" cy="374904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08960" y="5111496"/>
            <a:ext cx="292608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92400E"/>
                </a:solidFill>
                <a:latin typeface="Calibri"/>
              </a:rPr>
              <a:t>Re-verify position-based facts at action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06040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0F1729"/>
                </a:solidFill>
                <a:latin typeface="Calibri"/>
              </a:rPr>
              <a:t>WHY A SEPARATE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2743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971800"/>
            <a:ext cx="5120640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Prior taxonomies don't partition this — MAST, hallucination survey, OWASP LLM Top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85032"/>
            <a:ext cx="2743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685032"/>
            <a:ext cx="5120640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Applies only to perceiving-then-acting systems — computer-use · browser-use · robotic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98264"/>
            <a:ext cx="2743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398264"/>
            <a:ext cx="5120640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The fixes don't live in the prompt — they live in the spec, manifest, and verification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11496"/>
            <a:ext cx="2743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111496"/>
            <a:ext cx="5120640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Smallest contribution that gives the taxonomy a slot for a class already observed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02.4 · SPEC-DRIVEN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SDD: the executable protocol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 spec the agent can run and a human can validate. Lineage: spec-kit (GitHub), DevSquad (Microsoft).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366F1"/>
                </a:solidFill>
                <a:latin typeface="Calibri"/>
              </a:rPr>
              <a:t>13 CANONICAL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1.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83464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2.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3. Authorized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4612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4. NOT-authorized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5. Tool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5760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6. Invariants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7. Non-functional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06908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8. 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9. Execution instructions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48056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10. Oversight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11.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89204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12. Spec evolution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0F1729"/>
                </a:solidFill>
                <a:latin typeface="Calibri"/>
              </a:rPr>
              <a:t>·  13. Spec gap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366F1"/>
                </a:solidFill>
                <a:latin typeface="Calibri"/>
              </a:rPr>
              <a:t>HOW THE FRAMEWORK MAPS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3464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Agency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2724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lives in §3 (scope) and §4 (NOT-authorized)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Autonomy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6732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lives in §10 (oversight model)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1480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Responsibility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4074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lives in §1 (problem) and §11 (validation)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54879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754879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Reversibility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47487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lives in §5 (manifest) and §6 (invariants)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9496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39496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Each failure cat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68756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maps to a specific update 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03 · APPLICATION  ·  CODING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Coding agents — where structural fixes compound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Most coding-agent failures look novel; nearly all map to a Cat 1–6 fix-locus.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The deleted-tests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07208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Cat 1 / Cat 3 hybrid. Fix in the spec (§4 NOT-authorized) and in CI (test-skip set monotonic) — never only in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2783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09544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Three structural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204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(1) PR-only branch protection. (2) Tool manifest excludes unrestricted shell. (3) Test-suite invariant in CI.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41064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41064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22776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The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33672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Structural fixes live in spec / manifest / CI / platform. Prompt-level patches don't compound.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54296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54296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636008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What Cat 7 does NOT do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946904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Coding agents are text-only. They have no perception–action interface that can diverge from environment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03 · APPLICATION  ·  COMPUTER-USE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Computer-use — where Cat 7 becomes load-bearing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Anthropic Computer Use · OpenAI Operator · Gemini computer use — vision-then-action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F59E0B"/>
                </a:solidFill>
                <a:latin typeface="Calibri"/>
              </a:rPr>
              <a:t>NEW FAILURE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Lookalike-domain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homoglyph · typo · subdomain confusion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Visual instruction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rendered text treated as authoritative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Modal popup interception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07408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adversarial dialog read as legitimate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F59E0B"/>
                </a:solidFill>
                <a:latin typeface="Calibri"/>
              </a:rPr>
              <a:t>FOUR STRUCTURAL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Sandboxed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2724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no host credentials, files, extensions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7472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Auth-scope minimization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6732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redirects don't carry session cookies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1480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Domain allowlist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074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non-allowlisted redirect halts and surfaces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79"/>
            <a:ext cx="274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754879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1729"/>
                </a:solidFill>
                <a:latin typeface="Calibri"/>
              </a:rPr>
              <a:t>High-consequence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047487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irreversible-action class always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03 · APPLICATION  ·  DEVSQUAD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0F1729"/>
                </a:solidFill>
                <a:latin typeface="Calibri"/>
              </a:rPr>
              <a:t>Composition with Microsoft DevSquad Copilot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DevSquad provides the cadence; the framework provides the design vocabulary. They compose cleanly when the artifact mapping is explicit.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0881360" cy="50292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8288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35661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DevSquad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468880"/>
            <a:ext cx="4389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Framework artifact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Envisioning + Spec the slice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71800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Archetype committed; provisional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38728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38728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Plan only what the slice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38728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Invariants in §6; ADRs constrain §8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05656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105656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Decompose that slice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105656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Least-Capability tool subset per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72584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672584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Implement with TDD discipline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672584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Spec acceptance suite gates each commit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39512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39512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239512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Learn in the 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239512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Categorize Cat 1–7; trace to fix locus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806440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Review in independent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806440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Validation in fresh sub-agent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73368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373368"/>
            <a:ext cx="18288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6373368"/>
            <a:ext cx="35661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Refine continuously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6373368"/>
            <a:ext cx="43891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F1729"/>
                </a:solidFill>
                <a:latin typeface="Calibri"/>
              </a:rPr>
              <a:t>Four signal metrics drive next sprint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04 ·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Where this framework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Position-and-framework paper. No quantitative validation at scale yet — acknowledged explicitly.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Position paper, not empirical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07208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Applied across three worked examples. Quantitative validation across many independent deployments is future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2783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09544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Coarse partitions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204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Five archetypes, four dimensions, seven categories — opinionated rather than derived.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41064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41064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22776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Multi-tenant fleet governance is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33672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The framework currently does not address governance of large fleets of agents at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54296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54296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636008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Cardinality is judgment, not theorem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946904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Reasonable readers may propose six categories or eight; the framework's working choice is seven.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67528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67528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492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Cat 7 sub-categories may evolve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60136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Computer-use is young; the four sub-categories will likely be revised as the deployment surface matures.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4748B"/>
                </a:solidFill>
                <a:latin typeface="Calibri"/>
              </a:rPr>
              <a:t>05 · TAKE-HOMES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F1729"/>
                </a:solidFill>
                <a:latin typeface="Calibri"/>
              </a:rPr>
              <a:t>What to try Monday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Five concrete experiments any team can run on the system they're building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Pick one agent system you're operating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07208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Run the archetype decision tree against it. Does the result match what you have today?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2783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09544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Write the spec for its most consequential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204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Use the canonical template. Focus on §3 (scope) and §4 (NOT-authorized). The first draft will feel incomplete — that is the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41064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41064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22776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Categorize the first three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33672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Apply the diagnostic test, walk Cat 1–7, trace to the fix locus. How many were spec gaps versus model limits?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54296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54296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636008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Surface ambiguity, don't resolve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946904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When the spec is unclear, the agent's job is to surface, not to guess. Wire AskUserQuestion into the harness AND calibrate the judgment to use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67528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67528"/>
            <a:ext cx="59436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492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1729"/>
                </a:solidFill>
                <a:latin typeface="Calibri"/>
              </a:rPr>
              <a:t>Compound the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60136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Each diagnosed failure improves a spec or a skill. The improvement is durable and propagates to every future task.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The Architecture of Intent  ·  Marcel Aldecoa,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33271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371600"/>
            <a:ext cx="109728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F59E0B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Three prompts to start the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640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383280"/>
            <a:ext cx="10058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Where in your team is intent currently implicit, and where would making it explicit pay off most?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160520"/>
            <a:ext cx="640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160520"/>
            <a:ext cx="10058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What's the last agent failure you saw — and which Cat 1–7 was it, really?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937760"/>
            <a:ext cx="640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937760"/>
            <a:ext cx="10058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Are your structural controls (spec, manifest, CI, platform) doing the work that today still lives in prompts?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26364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Paper · marcelaldecoa.github.io/TheArchitectureOfIntent  ·  Companion book at the same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